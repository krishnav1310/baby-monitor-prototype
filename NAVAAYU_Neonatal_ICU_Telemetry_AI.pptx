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4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8E5"/>
                </a:solidFill>
                <a:latin typeface="Arial"/>
              </a:defRPr>
            </a:pPr>
            <a:r>
              <a:t>NAVAAYU</a:t>
            </a:r>
          </a:p>
          <a:p>
            <a:pPr algn="ctr">
              <a:spcBef>
                <a:spcPts val="2000"/>
              </a:spcBef>
              <a:defRPr sz="2200" i="1">
                <a:solidFill>
                  <a:srgbClr val="DFE5E6"/>
                </a:solidFill>
                <a:latin typeface="Arial"/>
              </a:defRPr>
            </a:pPr>
            <a:r>
              <a:t>AI-Powered Central Telemetry Monitoring System for Neonatal ICUs</a:t>
            </a:r>
          </a:p>
          <a:p>
            <a:pPr algn="ctr">
              <a:spcBef>
                <a:spcPts val="4000"/>
              </a:spcBef>
              <a:defRPr sz="1400" b="1">
                <a:solidFill>
                  <a:srgbClr val="34A99D"/>
                </a:solidFill>
                <a:latin typeface="Arial"/>
              </a:defRPr>
            </a:pPr>
            <a:r>
              <a:t>Build For Good Hackathon 2026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58393"/>
                </a:solidFill>
                <a:latin typeface="Arial"/>
              </a:defRPr>
            </a:pPr>
            <a:r>
              <a:t>The Critical Gaps in Neonatal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D2E32"/>
                </a:solidFill>
                <a:latin typeface="Arial"/>
              </a:defRPr>
            </a:pPr>
            <a:r>
              <a:t>• Alarm Fatigue desensitization: </a:t>
            </a:r>
          </a:p>
          <a:p>
            <a:pPr>
              <a:spcAft>
                <a:spcPts val="1400"/>
              </a:spcAft>
              <a:defRPr sz="1400">
                <a:solidFill>
                  <a:srgbClr val="556669"/>
                </a:solidFill>
                <a:latin typeface="Arial"/>
              </a:defRPr>
            </a:pPr>
            <a:r>
              <a:t>Bedside monitors sound thousands of alerts daily, leading to warning desensitization among clinical staff and delayed responses.</a:t>
            </a:r>
          </a:p>
          <a:p>
            <a:pPr>
              <a:spcAft>
                <a:spcPts val="200"/>
              </a:spcAft>
              <a:defRPr sz="1600" b="1">
                <a:solidFill>
                  <a:srgbClr val="1D2E32"/>
                </a:solidFill>
                <a:latin typeface="Arial"/>
              </a:defRPr>
            </a:pPr>
            <a:r>
              <a:t>• Lack of Integrated Telemetry: </a:t>
            </a:r>
          </a:p>
          <a:p>
            <a:pPr>
              <a:spcAft>
                <a:spcPts val="1400"/>
              </a:spcAft>
              <a:defRPr sz="1400">
                <a:solidFill>
                  <a:srgbClr val="556669"/>
                </a:solidFill>
                <a:latin typeface="Arial"/>
              </a:defRPr>
            </a:pPr>
            <a:r>
              <a:t>Clinicians must be physically at the bedside to check vital histories, breathing motion waveforms, and classification states.</a:t>
            </a:r>
          </a:p>
          <a:p>
            <a:pPr>
              <a:spcAft>
                <a:spcPts val="200"/>
              </a:spcAft>
              <a:defRPr sz="1600" b="1">
                <a:solidFill>
                  <a:srgbClr val="1D2E32"/>
                </a:solidFill>
                <a:latin typeface="Arial"/>
              </a:defRPr>
            </a:pPr>
            <a:r>
              <a:t>• Sudden Infant Death (SIDS) &amp; Apnea Risk: </a:t>
            </a:r>
          </a:p>
          <a:p>
            <a:pPr>
              <a:spcAft>
                <a:spcPts val="1400"/>
              </a:spcAft>
              <a:defRPr sz="1400">
                <a:solidFill>
                  <a:srgbClr val="556669"/>
                </a:solidFill>
                <a:latin typeface="Arial"/>
              </a:defRPr>
            </a:pPr>
            <a:r>
              <a:t>Infant sleep posture (e.g. stomach sleeping) and silent breathing arrests require active, integrated visual-telemetry tracking to detect on time.</a:t>
            </a:r>
          </a:p>
          <a:p>
            <a:pPr>
              <a:spcAft>
                <a:spcPts val="200"/>
              </a:spcAft>
              <a:defRPr sz="1600" b="1">
                <a:solidFill>
                  <a:srgbClr val="1D2E32"/>
                </a:solidFill>
                <a:latin typeface="Arial"/>
              </a:defRPr>
            </a:pPr>
            <a:r>
              <a:t>• Security Identification Errors: </a:t>
            </a:r>
          </a:p>
          <a:p>
            <a:pPr>
              <a:spcAft>
                <a:spcPts val="1400"/>
              </a:spcAft>
              <a:defRPr sz="1400">
                <a:solidFill>
                  <a:srgbClr val="556669"/>
                </a:solidFill>
                <a:latin typeface="Arial"/>
              </a:defRPr>
            </a:pPr>
            <a:r>
              <a:t>Newborn babies do not have names yet. Standard dashboards lack secure bed-location mapping, introducing clinical ID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4114800" cy="4114800"/>
          </a:xfrm>
          <a:prstGeom prst="roundRect">
            <a:avLst/>
          </a:prstGeom>
          <a:solidFill>
            <a:srgbClr val="1D2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2011680"/>
            <a:ext cx="374903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800" b="1">
                <a:solidFill>
                  <a:srgbClr val="34A99D"/>
                </a:solidFill>
                <a:latin typeface="Arial"/>
              </a:defRPr>
            </a:pPr>
            <a:r>
              <a:t>THE MANDATE</a:t>
            </a:r>
          </a:p>
          <a:p>
            <a:pPr algn="ctr">
              <a:defRPr sz="1600" i="1">
                <a:solidFill>
                  <a:srgbClr val="DFE5E6"/>
                </a:solidFill>
                <a:latin typeface="Arial"/>
              </a:defRPr>
            </a:pPr>
            <a:r>
              <a:t>NICUs require an integrated edge intelligence dashboard that sifts through noise, removes alarm fatigue, maps secure coordinates, and alerts only when clinically significant risk is present.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58393"/>
                </a:solidFill>
                <a:latin typeface="Arial"/>
              </a:defRPr>
            </a:pPr>
            <a:r>
              <a:t>NAVAAYU - Unified Edge AI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FFF8E5"/>
          </a:solidFill>
          <a:ln w="19050">
            <a:solidFill>
              <a:srgbClr val="4583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000" b="1">
                <a:solidFill>
                  <a:srgbClr val="458393"/>
                </a:solidFill>
                <a:latin typeface="Arial"/>
              </a:defRPr>
            </a:pPr>
            <a:r>
              <a:t>Central Telemetry Grid</a:t>
            </a:r>
          </a:p>
          <a:p>
            <a:pPr>
              <a:spcBef>
                <a:spcPts val="1000"/>
              </a:spcBef>
              <a:defRPr sz="1400">
                <a:solidFill>
                  <a:srgbClr val="1D2E32"/>
                </a:solidFill>
                <a:latin typeface="Arial"/>
              </a:defRPr>
            </a:pPr>
            <a:r>
              <a:t>Beds location-coordinate grid mapping displaying real-time micro-vitals (HR, SpO₂, Temp, Resp Rate) and active condition scores for all beds simultaneously without names.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FFF8E5"/>
          </a:solidFill>
          <a:ln w="19050">
            <a:solidFill>
              <a:srgbClr val="4583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000" b="1">
                <a:solidFill>
                  <a:srgbClr val="458393"/>
                </a:solidFill>
                <a:latin typeface="Arial"/>
              </a:defRPr>
            </a:pPr>
            <a:r>
              <a:t>Biological Wave Sweep</a:t>
            </a:r>
          </a:p>
          <a:p>
            <a:pPr>
              <a:spcBef>
                <a:spcPts val="1000"/>
              </a:spcBef>
              <a:defRPr sz="1400">
                <a:solidFill>
                  <a:srgbClr val="1D2E32"/>
                </a:solidFill>
                <a:latin typeface="Arial"/>
              </a:defRPr>
            </a:pPr>
            <a:r>
              <a:t>Integrated real-time simulated continuous ECG waveforms featuring physiological QRS complexes, respiratory baseline sways, and lead noise matching live pulse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FFF8E5"/>
          </a:solidFill>
          <a:ln w="19050">
            <a:solidFill>
              <a:srgbClr val="4583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000" b="1">
                <a:solidFill>
                  <a:srgbClr val="458393"/>
                </a:solidFill>
                <a:latin typeface="Arial"/>
              </a:defRPr>
            </a:pPr>
            <a:r>
              <a:t>Edge AI Warning Engine</a:t>
            </a:r>
          </a:p>
          <a:p>
            <a:pPr>
              <a:spcBef>
                <a:spcPts val="1000"/>
              </a:spcBef>
              <a:defRPr sz="1400">
                <a:solidFill>
                  <a:srgbClr val="1D2E32"/>
                </a:solidFill>
                <a:latin typeface="Arial"/>
              </a:defRPr>
            </a:pPr>
            <a:r>
              <a:t>A Random Forest classifier evaluating vitals at 1s intervals. Triggers visual flashing alerts and audible apnea sirens immediately upon detecting dangerous stillness.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58393"/>
                </a:solidFill>
                <a:latin typeface="Arial"/>
              </a:defRPr>
            </a:pPr>
            <a:r>
              <a:t>3-PC Distributed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solidFill>
            <a:srgbClr val="FFF8E5"/>
          </a:solidFill>
          <a:ln w="12700">
            <a:solidFill>
              <a:srgbClr val="4583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58393"/>
                </a:solidFill>
                <a:latin typeface="Arial"/>
              </a:defRPr>
            </a:pPr>
            <a:r>
              <a:t>PC 1: Bedside Telemetry Simulator (Local Client)</a:t>
            </a:r>
          </a:p>
          <a:p>
            <a:pPr>
              <a:defRPr sz="1300">
                <a:solidFill>
                  <a:srgbClr val="1D2E32"/>
                </a:solidFill>
                <a:latin typeface="Arial"/>
              </a:defRPr>
            </a:pPr>
            <a:r>
              <a:t>Simulates real-time vital sign sensors of neonatal beds and streams inputs dynamically via HTTP POST to the cloud Edge AI server.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0698480" cy="1188720"/>
          </a:xfrm>
          <a:prstGeom prst="rect">
            <a:avLst/>
          </a:prstGeom>
          <a:solidFill>
            <a:srgbClr val="FFF8E5"/>
          </a:solidFill>
          <a:ln w="12700">
            <a:solidFill>
              <a:srgbClr val="4583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58393"/>
                </a:solidFill>
                <a:latin typeface="Arial"/>
              </a:defRPr>
            </a:pPr>
            <a:r>
              <a:t>PC 2: Edge AI Processing Server (Render Cloud)</a:t>
            </a:r>
          </a:p>
          <a:p>
            <a:pPr>
              <a:defRPr sz="1300">
                <a:solidFill>
                  <a:srgbClr val="1D2E32"/>
                </a:solidFill>
                <a:latin typeface="Arial"/>
              </a:defRPr>
            </a:pPr>
            <a:r>
              <a:t>Hosts FastAPI endpoints, parses inputs, feeds data to the Random Forest model for classification, and records patient states.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698480" cy="1188720"/>
          </a:xfrm>
          <a:prstGeom prst="rect">
            <a:avLst/>
          </a:prstGeom>
          <a:solidFill>
            <a:srgbClr val="FFF8E5"/>
          </a:solidFill>
          <a:ln w="12700">
            <a:solidFill>
              <a:srgbClr val="4583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58393"/>
                </a:solidFill>
                <a:latin typeface="Arial"/>
              </a:defRPr>
            </a:pPr>
            <a:r>
              <a:t>PC 3: Clinician Central Dashboard (Vercel Cloud)</a:t>
            </a:r>
          </a:p>
          <a:p>
            <a:pPr>
              <a:defRPr sz="1300">
                <a:solidFill>
                  <a:srgbClr val="1D2E32"/>
                </a:solidFill>
                <a:latin typeface="Arial"/>
              </a:defRPr>
            </a:pPr>
            <a:r>
              <a:t>A high-performance React/TypeScript application polling PC 2 at 1s intervals to render waveforms, vitals, and warnings.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58393"/>
                </a:solidFill>
                <a:latin typeface="Arial"/>
              </a:defRPr>
            </a:pPr>
            <a:r>
              <a:t>Technology Stack &amp; 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D2E32"/>
                </a:solidFill>
                <a:latin typeface="Arial"/>
              </a:defRPr>
            </a:pPr>
            <a:r>
              <a:t>• Clinician Frontend:</a:t>
            </a:r>
          </a:p>
          <a:p>
            <a:pPr>
              <a:spcAft>
                <a:spcPts val="1400"/>
              </a:spcAft>
              <a:defRPr sz="1400">
                <a:solidFill>
                  <a:srgbClr val="556669"/>
                </a:solidFill>
                <a:latin typeface="Arial"/>
              </a:defRPr>
            </a:pPr>
            <a:r>
              <a:t>React 18, TypeScript, Vite, Recharts, Lucide Icons</a:t>
            </a:r>
          </a:p>
          <a:p>
            <a:pPr>
              <a:spcAft>
                <a:spcPts val="200"/>
              </a:spcAft>
              <a:defRPr sz="1600" b="1">
                <a:solidFill>
                  <a:srgbClr val="1D2E32"/>
                </a:solidFill>
                <a:latin typeface="Arial"/>
              </a:defRPr>
            </a:pPr>
            <a:r>
              <a:t>• Edge AI Backend:</a:t>
            </a:r>
          </a:p>
          <a:p>
            <a:pPr>
              <a:spcAft>
                <a:spcPts val="1400"/>
              </a:spcAft>
              <a:defRPr sz="1400">
                <a:solidFill>
                  <a:srgbClr val="556669"/>
                </a:solidFill>
                <a:latin typeface="Arial"/>
              </a:defRPr>
            </a:pPr>
            <a:r>
              <a:t>Python, FastAPI, Scikit-learn (Random Forest Classifier), Joblib, OpenCV</a:t>
            </a:r>
          </a:p>
          <a:p>
            <a:pPr>
              <a:spcAft>
                <a:spcPts val="200"/>
              </a:spcAft>
              <a:defRPr sz="1600" b="1">
                <a:solidFill>
                  <a:srgbClr val="1D2E32"/>
                </a:solidFill>
                <a:latin typeface="Arial"/>
              </a:defRPr>
            </a:pPr>
            <a:r>
              <a:t>• Cloud Infrastructure:</a:t>
            </a:r>
          </a:p>
          <a:p>
            <a:pPr>
              <a:spcAft>
                <a:spcPts val="1400"/>
              </a:spcAft>
              <a:defRPr sz="1400">
                <a:solidFill>
                  <a:srgbClr val="556669"/>
                </a:solidFill>
                <a:latin typeface="Arial"/>
              </a:defRPr>
            </a:pPr>
            <a:r>
              <a:t>Vercel (UI Hosting), Render (Backend AI API hosting)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458393"/>
                </a:solidFill>
                <a:latin typeface="Arial"/>
              </a:defRPr>
            </a:pPr>
            <a:r>
              <a:t>Clinician Dashboard Portal (Live):</a:t>
            </a:r>
          </a:p>
          <a:p>
            <a:pPr>
              <a:spcAft>
                <a:spcPts val="1400"/>
              </a:spcAft>
              <a:defRPr sz="1300" b="1">
                <a:solidFill>
                  <a:srgbClr val="34A99D"/>
                </a:solidFill>
                <a:latin typeface="Courier New"/>
              </a:defRPr>
            </a:pPr>
            <a:r>
              <a:t>https://neonatal-ui-frontend.vercel.app</a:t>
            </a:r>
          </a:p>
          <a:p>
            <a:pPr>
              <a:spcAft>
                <a:spcPts val="200"/>
              </a:spcAft>
              <a:defRPr sz="1500" b="1">
                <a:solidFill>
                  <a:srgbClr val="458393"/>
                </a:solidFill>
                <a:latin typeface="Arial"/>
              </a:defRPr>
            </a:pPr>
            <a:r>
              <a:t>Secure Passcode to Access Portal:</a:t>
            </a:r>
          </a:p>
          <a:p>
            <a:pPr>
              <a:spcAft>
                <a:spcPts val="1400"/>
              </a:spcAft>
              <a:defRPr sz="1300" b="1">
                <a:solidFill>
                  <a:srgbClr val="34A99D"/>
                </a:solidFill>
                <a:latin typeface="Arial"/>
              </a:defRPr>
            </a:pPr>
            <a:r>
              <a:t>1234</a:t>
            </a:r>
          </a:p>
          <a:p>
            <a:pPr>
              <a:spcAft>
                <a:spcPts val="200"/>
              </a:spcAft>
              <a:defRPr sz="1500" b="1">
                <a:solidFill>
                  <a:srgbClr val="458393"/>
                </a:solidFill>
                <a:latin typeface="Arial"/>
              </a:defRPr>
            </a:pPr>
            <a:r>
              <a:t>Edge AI Server URL (Render):</a:t>
            </a:r>
          </a:p>
          <a:p>
            <a:pPr>
              <a:spcAft>
                <a:spcPts val="1400"/>
              </a:spcAft>
              <a:defRPr sz="1300" b="1">
                <a:solidFill>
                  <a:srgbClr val="34A99D"/>
                </a:solidFill>
                <a:latin typeface="Courier New"/>
              </a:defRPr>
            </a:pPr>
            <a:r>
              <a:t>https://neonatal-pc2-api.onrender.com</a:t>
            </a:r>
          </a:p>
          <a:p>
            <a:pPr>
              <a:spcAft>
                <a:spcPts val="200"/>
              </a:spcAft>
              <a:defRPr sz="1500" b="1">
                <a:solidFill>
                  <a:srgbClr val="458393"/>
                </a:solidFill>
                <a:latin typeface="Arial"/>
              </a:defRPr>
            </a:pPr>
            <a:r>
              <a:t>GitHub Source Code Repository:</a:t>
            </a:r>
          </a:p>
          <a:p>
            <a:pPr>
              <a:spcAft>
                <a:spcPts val="1400"/>
              </a:spcAft>
              <a:defRPr sz="1300" b="1">
                <a:solidFill>
                  <a:srgbClr val="34A99D"/>
                </a:solidFill>
                <a:latin typeface="Courier New"/>
              </a:defRPr>
            </a:pPr>
            <a:r>
              <a:t>https://github.com/Krishnav1310/BABY-MONITOR-PROTOTYPE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58393"/>
                </a:solidFill>
                <a:latin typeface="Arial"/>
              </a:defRPr>
            </a:pPr>
            <a:r>
              <a:t>Clinical Dashboard Product Preview</a:t>
            </a:r>
          </a:p>
        </p:txBody>
      </p:sp>
      <p:pic>
        <p:nvPicPr>
          <p:cNvPr id="3" name="Picture 2" descr="media__17853224458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48495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